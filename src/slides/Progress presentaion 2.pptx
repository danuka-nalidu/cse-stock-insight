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  <p:embeddedFont>
      <p:font typeface="Alfa Slab One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faSlabOne-regular.fntdata"/><Relationship Id="rId14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2896406b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2896406b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2896406b2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2896406b2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2896406b2_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2896406b2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2896406b2_5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2896406b2_5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InvestWise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834125"/>
            <a:ext cx="8520600" cy="10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373">
                <a:solidFill>
                  <a:schemeClr val="lt1"/>
                </a:solidFill>
              </a:rPr>
              <a:t>AI-Driven Portfolio Planning Platform</a:t>
            </a:r>
            <a:endParaRPr b="1" sz="4373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373">
                <a:solidFill>
                  <a:schemeClr val="lt1"/>
                </a:solidFill>
              </a:rPr>
              <a:t>25-26J-445</a:t>
            </a:r>
            <a:endParaRPr b="1" sz="4373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896900"/>
            <a:ext cx="8520600" cy="19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Financial data is fragmented and difficult to analyze quickly.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CSE Investors lack accessible tools for AI-driven market insight.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249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Motivation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-127800" y="3124225"/>
            <a:ext cx="8520600" cy="19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Build an AI-powered platform that integrates </a:t>
            </a:r>
            <a:r>
              <a:rPr b="1" lang="en-GB" sz="1700">
                <a:solidFill>
                  <a:schemeClr val="dk1"/>
                </a:solidFill>
              </a:rPr>
              <a:t>news sentiment, dividend prediction, financial health, and price prediction</a:t>
            </a:r>
            <a:r>
              <a:rPr lang="en-GB" sz="1700">
                <a:solidFill>
                  <a:schemeClr val="dk1"/>
                </a:solidFill>
              </a:rPr>
              <a:t> to support </a:t>
            </a:r>
            <a:r>
              <a:rPr b="1" lang="en-GB" sz="1700">
                <a:solidFill>
                  <a:schemeClr val="dk1"/>
                </a:solidFill>
              </a:rPr>
              <a:t>smarter investment decisions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Proposed solution overview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An </a:t>
            </a:r>
            <a:r>
              <a:rPr b="1" lang="en-GB" sz="1100">
                <a:solidFill>
                  <a:schemeClr val="dk1"/>
                </a:solidFill>
              </a:rPr>
              <a:t>AI-driven investment platform</a:t>
            </a:r>
            <a:r>
              <a:rPr lang="en-GB" sz="1100">
                <a:solidFill>
                  <a:schemeClr val="dk1"/>
                </a:solidFill>
              </a:rPr>
              <a:t> that integrates financial data, news sentiment, and machine learning predictions into a </a:t>
            </a:r>
            <a:r>
              <a:rPr b="1" lang="en-GB" sz="1100">
                <a:solidFill>
                  <a:schemeClr val="dk1"/>
                </a:solidFill>
              </a:rPr>
              <a:t>single unified dashboard</a:t>
            </a:r>
            <a:r>
              <a:rPr lang="en-GB" sz="1100">
                <a:solidFill>
                  <a:schemeClr val="dk1"/>
                </a:solidFill>
              </a:rPr>
              <a:t> for retail investors.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Key Features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251">
                <a:solidFill>
                  <a:schemeClr val="dk1"/>
                </a:solidFill>
              </a:rPr>
              <a:t>Open </a:t>
            </a:r>
            <a:r>
              <a:rPr b="1" lang="en-GB" sz="1251">
                <a:solidFill>
                  <a:schemeClr val="dk1"/>
                </a:solidFill>
              </a:rPr>
              <a:t>Price Prediction:</a:t>
            </a:r>
            <a:r>
              <a:rPr lang="en-GB" sz="951">
                <a:solidFill>
                  <a:schemeClr val="dk1"/>
                </a:solidFill>
              </a:rPr>
              <a:t> </a:t>
            </a:r>
            <a:r>
              <a:rPr lang="en-GB" sz="951">
                <a:solidFill>
                  <a:schemeClr val="dk1"/>
                </a:solidFill>
              </a:rPr>
              <a:t>Automated forecasting of stock opening prices using time-series machine learning ensemble model .</a:t>
            </a:r>
            <a:endParaRPr sz="95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5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251">
                <a:solidFill>
                  <a:schemeClr val="dk1"/>
                </a:solidFill>
              </a:rPr>
              <a:t>Risk Analysis:</a:t>
            </a:r>
            <a:r>
              <a:rPr lang="en-GB" sz="951">
                <a:solidFill>
                  <a:schemeClr val="dk1"/>
                </a:solidFill>
              </a:rPr>
              <a:t> AI-powered financial health assessment utilizing Support Vector Regression and Z-Score metrics .</a:t>
            </a:r>
            <a:endParaRPr sz="95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5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251">
                <a:solidFill>
                  <a:schemeClr val="dk1"/>
                </a:solidFill>
              </a:rPr>
              <a:t>Dividend Prediction:</a:t>
            </a:r>
            <a:r>
              <a:rPr lang="en-GB" sz="951">
                <a:solidFill>
                  <a:schemeClr val="dk1"/>
                </a:solidFill>
              </a:rPr>
              <a:t> Data-driven forecasting of future payouts utilizing Logistic regression with elastic net regularization.</a:t>
            </a:r>
            <a:endParaRPr sz="95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5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251">
                <a:solidFill>
                  <a:schemeClr val="dk1"/>
                </a:solidFill>
              </a:rPr>
              <a:t>Sentiment Analysis:</a:t>
            </a:r>
            <a:r>
              <a:rPr lang="en-GB" sz="951">
                <a:solidFill>
                  <a:schemeClr val="dk1"/>
                </a:solidFill>
              </a:rPr>
              <a:t> Advanced NLP pipeline that evaluates market mood via real-time news scraping and hybrid (Lexicon/ML) analysis.</a:t>
            </a:r>
            <a:endParaRPr sz="95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System Architecture &amp; Integration</a:t>
            </a:r>
            <a:endParaRPr/>
          </a:p>
        </p:txBody>
      </p:sp>
      <p:pic>
        <p:nvPicPr>
          <p:cNvPr id="77" name="Google Shape;77;p16" title="system_architecture_diagram_1773159647880.png"/>
          <p:cNvPicPr preferRelativeResize="0"/>
          <p:nvPr/>
        </p:nvPicPr>
        <p:blipFill rotWithShape="1">
          <a:blip r:embed="rId3">
            <a:alphaModFix/>
          </a:blip>
          <a:srcRect b="5371" l="6113" r="5796" t="14941"/>
          <a:stretch/>
        </p:blipFill>
        <p:spPr>
          <a:xfrm>
            <a:off x="2097875" y="1096850"/>
            <a:ext cx="3844301" cy="37325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Commercialization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Target Users / Market</a:t>
            </a:r>
            <a:endParaRPr b="1" sz="17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Retail Investors:</a:t>
            </a:r>
            <a:r>
              <a:rPr lang="en-GB" sz="1100">
                <a:solidFill>
                  <a:schemeClr val="dk1"/>
                </a:solidFill>
              </a:rPr>
              <a:t> Access to AI-driven investment insights without expensive institutional tools.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Active Traders:</a:t>
            </a:r>
            <a:r>
              <a:rPr lang="en-GB" sz="1100">
                <a:solidFill>
                  <a:schemeClr val="dk1"/>
                </a:solidFill>
              </a:rPr>
              <a:t> Real-time sentiment analysis for faster trading decisions.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Fintech Startups:</a:t>
            </a:r>
            <a:r>
              <a:rPr lang="en-GB" sz="1100">
                <a:solidFill>
                  <a:schemeClr val="dk1"/>
                </a:solidFill>
              </a:rPr>
              <a:t> Ability to integrate predictive models through API services.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Value Proposition</a:t>
            </a:r>
            <a:endParaRPr b="1" sz="17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Holistic Market Intelligence:</a:t>
            </a:r>
            <a:r>
              <a:rPr lang="en-GB" sz="1100">
                <a:solidFill>
                  <a:schemeClr val="dk1"/>
                </a:solidFill>
              </a:rPr>
              <a:t> Combines financial health, news sentiment, and predictive analytics in one platform.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Automated Analysis:</a:t>
            </a:r>
            <a:r>
              <a:rPr lang="en-GB" sz="1100">
                <a:solidFill>
                  <a:schemeClr val="dk1"/>
                </a:solidFill>
              </a:rPr>
              <a:t> Converts large volumes of financial news into actionable insights.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Scalable Architecture:</a:t>
            </a:r>
            <a:r>
              <a:rPr lang="en-GB" sz="1100">
                <a:solidFill>
                  <a:schemeClr val="dk1"/>
                </a:solidFill>
              </a:rPr>
              <a:t> Microservices-based system capable of handling large data streams and concurrent users.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